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4fcefba4e257cc3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4fcefba4e257cc3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4fcefba4e257cc3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4fcefba4e257cc3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4fcefba4e257cc3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24fcefba4e257cc3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24fcefba4e257cc3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24fcefba4e257cc3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4fcefba4e257cc3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24fcefba4e257cc3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4fcefba4e257cc3_0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24fcefba4e257cc3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24fcefba4e257cc3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24fcefba4e257cc3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24fcefba4e257cc3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24fcefba4e257cc3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24fcefba4e257cc3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24fcefba4e257cc3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24fcefba4e257cc3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24fcefba4e257cc3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24fcefba4e257cc3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24fcefba4e257cc3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24fcefba4e257cc3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24fcefba4e257cc3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06950"/>
            <a:ext cx="8520600" cy="129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3612"/>
              <a:buFont typeface="Arial"/>
              <a:buNone/>
            </a:pPr>
            <a:r>
              <a:rPr b="1" lang="en" sz="2522"/>
              <a:t>House Price Prediction</a:t>
            </a:r>
            <a:endParaRPr b="1" sz="2522"/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2263"/>
              <a:buFont typeface="Arial"/>
              <a:buNone/>
            </a:pPr>
            <a:r>
              <a:rPr b="1" lang="en" sz="1522"/>
              <a:t>A Machine Learning Project Using King County House Sales Data</a:t>
            </a:r>
            <a:endParaRPr b="1" sz="1522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580"/>
              <a:buFont typeface="Arial"/>
              <a:buNone/>
            </a:pPr>
            <a:r>
              <a:rPr b="1" lang="en" sz="1878"/>
              <a:t>Topics:</a:t>
            </a:r>
            <a:r>
              <a:rPr lang="en" sz="1878"/>
              <a:t> Data Cleaning • Exploratory Data Analysis • Model Training • Model Evaluation</a:t>
            </a:r>
            <a:endParaRPr sz="1878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580"/>
              <a:buFont typeface="Arial"/>
              <a:buNone/>
            </a:pPr>
            <a:r>
              <a:rPr b="1" lang="en" sz="1878">
                <a:solidFill>
                  <a:schemeClr val="dk1"/>
                </a:solidFill>
              </a:rPr>
              <a:t>Presented by:</a:t>
            </a:r>
            <a:r>
              <a:rPr lang="en" sz="1878">
                <a:solidFill>
                  <a:schemeClr val="dk1"/>
                </a:solidFill>
              </a:rPr>
              <a:t> Egbierele Uku</a:t>
            </a:r>
            <a:endParaRPr sz="187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Project Aim and 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Aim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To develop a machine learning model that predicts house prices using King County house sales data.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Objectives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Explore the dataset and understand its key features.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Identify and investigate data quality issues.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Clean and prepare the data for modelling.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Train and compare different regression models.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Evaluate model performance using MAE, RMSE and R².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Select a model based on its predictive performance.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Dataset at a Glance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344">
                <a:solidFill>
                  <a:schemeClr val="dk1"/>
                </a:solidFill>
              </a:rPr>
              <a:t>Dataset:</a:t>
            </a:r>
            <a:r>
              <a:rPr lang="en" sz="6344">
                <a:solidFill>
                  <a:schemeClr val="dk1"/>
                </a:solidFill>
              </a:rPr>
              <a:t> King County House Sales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6344">
                <a:solidFill>
                  <a:schemeClr val="dk1"/>
                </a:solidFill>
              </a:rPr>
              <a:t>Total records:</a:t>
            </a:r>
            <a:r>
              <a:rPr lang="en" sz="6344">
                <a:solidFill>
                  <a:schemeClr val="dk1"/>
                </a:solidFill>
              </a:rPr>
              <a:t> 21,613 house sales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6344">
                <a:solidFill>
                  <a:schemeClr val="dk1"/>
                </a:solidFill>
              </a:rPr>
              <a:t>Original columns:</a:t>
            </a:r>
            <a:r>
              <a:rPr lang="en" sz="6344">
                <a:solidFill>
                  <a:schemeClr val="dk1"/>
                </a:solidFill>
              </a:rPr>
              <a:t> 21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6344">
                <a:solidFill>
                  <a:schemeClr val="dk1"/>
                </a:solidFill>
              </a:rPr>
              <a:t>Target variable:</a:t>
            </a:r>
            <a:r>
              <a:rPr lang="en" sz="6344">
                <a:solidFill>
                  <a:schemeClr val="dk1"/>
                </a:solidFill>
              </a:rPr>
              <a:t> </a:t>
            </a:r>
            <a:r>
              <a:rPr lang="en" sz="634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endParaRPr sz="634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6344">
                <a:solidFill>
                  <a:schemeClr val="dk1"/>
                </a:solidFill>
              </a:rPr>
              <a:t>Target unit:</a:t>
            </a:r>
            <a:r>
              <a:rPr lang="en" sz="6344">
                <a:solidFill>
                  <a:schemeClr val="dk1"/>
                </a:solidFill>
              </a:rPr>
              <a:t> US dollars (USD)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6344">
                <a:solidFill>
                  <a:schemeClr val="dk1"/>
                </a:solidFill>
              </a:rPr>
              <a:t>Data types:</a:t>
            </a:r>
            <a:r>
              <a:rPr lang="en" sz="6344">
                <a:solidFill>
                  <a:schemeClr val="dk1"/>
                </a:solidFill>
              </a:rPr>
              <a:t> Numerical and categorical features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6344">
                <a:solidFill>
                  <a:schemeClr val="dk1"/>
                </a:solidFill>
              </a:rPr>
              <a:t>Geographical coverage:</a:t>
            </a:r>
            <a:r>
              <a:rPr lang="en" sz="6344">
                <a:solidFill>
                  <a:schemeClr val="dk1"/>
                </a:solidFill>
              </a:rPr>
              <a:t> King County, Washington, USA</a:t>
            </a:r>
            <a:endParaRPr sz="634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344">
                <a:solidFill>
                  <a:schemeClr val="dk1"/>
                </a:solidFill>
              </a:rPr>
              <a:t>Examples of key features</a:t>
            </a:r>
            <a:endParaRPr b="1"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44">
                <a:solidFill>
                  <a:schemeClr val="dk1"/>
                </a:solidFill>
              </a:rPr>
              <a:t>Living area (</a:t>
            </a:r>
            <a:r>
              <a:rPr lang="en" sz="634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sqft_living</a:t>
            </a:r>
            <a:r>
              <a:rPr lang="en" sz="6344">
                <a:solidFill>
                  <a:schemeClr val="dk1"/>
                </a:solidFill>
              </a:rPr>
              <a:t>)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44">
                <a:solidFill>
                  <a:schemeClr val="dk1"/>
                </a:solidFill>
              </a:rPr>
              <a:t>Bedrooms and bathrooms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44">
                <a:solidFill>
                  <a:schemeClr val="dk1"/>
                </a:solidFill>
              </a:rPr>
              <a:t>Property grade (</a:t>
            </a:r>
            <a:r>
              <a:rPr lang="en" sz="634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grade</a:t>
            </a:r>
            <a:r>
              <a:rPr lang="en" sz="6344">
                <a:solidFill>
                  <a:schemeClr val="dk1"/>
                </a:solidFill>
              </a:rPr>
              <a:t>)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44">
                <a:solidFill>
                  <a:schemeClr val="dk1"/>
                </a:solidFill>
              </a:rPr>
              <a:t>Location (</a:t>
            </a:r>
            <a:r>
              <a:rPr lang="en" sz="634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zipcode</a:t>
            </a:r>
            <a:r>
              <a:rPr lang="en" sz="6344">
                <a:solidFill>
                  <a:schemeClr val="dk1"/>
                </a:solidFill>
              </a:rPr>
              <a:t>)</a:t>
            </a:r>
            <a:endParaRPr sz="6344">
              <a:solidFill>
                <a:schemeClr val="dk1"/>
              </a:solidFill>
            </a:endParaRPr>
          </a:p>
          <a:p>
            <a:pPr indent="-32930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44">
                <a:solidFill>
                  <a:schemeClr val="dk1"/>
                </a:solidFill>
              </a:rPr>
              <a:t>Sale date (</a:t>
            </a:r>
            <a:r>
              <a:rPr lang="en" sz="634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n" sz="6344">
                <a:solidFill>
                  <a:schemeClr val="dk1"/>
                </a:solidFill>
              </a:rPr>
              <a:t>)</a:t>
            </a:r>
            <a:endParaRPr sz="634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Data Cleaning and Preparation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755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354">
                <a:solidFill>
                  <a:schemeClr val="dk1"/>
                </a:solidFill>
              </a:rPr>
              <a:t>Data quality checks</a:t>
            </a:r>
            <a:endParaRPr b="1"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Checked for missing values and exact duplicate rows.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Investigated repeated property IDs to reduce data leakage.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Identified unusual values, including properties with zero bedrooms or bathrooms.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Investigated an unusual 33-bedroom record rather than removing it automatically.</a:t>
            </a:r>
            <a:endParaRPr sz="635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354">
                <a:solidFill>
                  <a:schemeClr val="dk1"/>
                </a:solidFill>
              </a:rPr>
              <a:t>Preparation for modelling</a:t>
            </a:r>
            <a:endParaRPr b="1"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Converted the sale date into a datetime format.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Created additional features: </a:t>
            </a:r>
            <a:r>
              <a:rPr lang="en" sz="635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sale_year</a:t>
            </a:r>
            <a:r>
              <a:rPr lang="en" sz="6354">
                <a:solidFill>
                  <a:schemeClr val="dk1"/>
                </a:solidFill>
              </a:rPr>
              <a:t> and </a:t>
            </a:r>
            <a:r>
              <a:rPr lang="en" sz="635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sale_month</a:t>
            </a:r>
            <a:r>
              <a:rPr lang="en" sz="6354">
                <a:solidFill>
                  <a:schemeClr val="dk1"/>
                </a:solidFill>
              </a:rPr>
              <a:t>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Treated zero bedroom and bathroom counts as missing values for modelling.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Used median imputation for numerical features.</a:t>
            </a:r>
            <a:endParaRPr sz="6354">
              <a:solidFill>
                <a:schemeClr val="dk1"/>
              </a:solidFill>
            </a:endParaRPr>
          </a:p>
          <a:p>
            <a:pPr indent="-32947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354">
                <a:solidFill>
                  <a:schemeClr val="dk1"/>
                </a:solidFill>
              </a:rPr>
              <a:t>Encoded ZIP codes using OneHotEncoder.</a:t>
            </a:r>
            <a:endParaRPr sz="635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Modelling Approach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243">
                <a:solidFill>
                  <a:schemeClr val="dk1"/>
                </a:solidFill>
              </a:rPr>
              <a:t>Workflow</a:t>
            </a:r>
            <a:endParaRPr b="1"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Load the data</a:t>
            </a:r>
            <a:r>
              <a:rPr lang="en" sz="6243">
                <a:solidFill>
                  <a:schemeClr val="dk1"/>
                </a:solidFill>
              </a:rPr>
              <a:t> — Import the King County house sales dataset.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Explore and clean</a:t>
            </a:r>
            <a:r>
              <a:rPr lang="en" sz="6243">
                <a:solidFill>
                  <a:schemeClr val="dk1"/>
                </a:solidFill>
              </a:rPr>
              <a:t> — Check data quality and investigate unusual values.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Prepare features</a:t>
            </a:r>
            <a:r>
              <a:rPr lang="en" sz="6243">
                <a:solidFill>
                  <a:schemeClr val="dk1"/>
                </a:solidFill>
              </a:rPr>
              <a:t> — Impute missing values and encode ZIP codes.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Split the data</a:t>
            </a:r>
            <a:r>
              <a:rPr lang="en" sz="6243">
                <a:solidFill>
                  <a:schemeClr val="dk1"/>
                </a:solidFill>
              </a:rPr>
              <a:t> — Create training and testing sets while keeping repeated property IDs separate.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Train models</a:t>
            </a:r>
            <a:r>
              <a:rPr lang="en" sz="6243">
                <a:solidFill>
                  <a:schemeClr val="dk1"/>
                </a:solidFill>
              </a:rPr>
              <a:t> — Fit three regression algorithms.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Evaluate performance</a:t>
            </a:r>
            <a:r>
              <a:rPr lang="en" sz="6243">
                <a:solidFill>
                  <a:schemeClr val="dk1"/>
                </a:solidFill>
              </a:rPr>
              <a:t> — Compare predictions using MAE, RMSE and R².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243">
                <a:solidFill>
                  <a:schemeClr val="dk1"/>
                </a:solidFill>
              </a:rPr>
              <a:t>Select a model</a:t>
            </a:r>
            <a:r>
              <a:rPr lang="en" sz="6243">
                <a:solidFill>
                  <a:schemeClr val="dk1"/>
                </a:solidFill>
              </a:rPr>
              <a:t> — Choose the best-performing model based on evaluation results.</a:t>
            </a:r>
            <a:endParaRPr sz="624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243">
                <a:solidFill>
                  <a:schemeClr val="dk1"/>
                </a:solidFill>
              </a:rPr>
              <a:t>Models tested</a:t>
            </a:r>
            <a:endParaRPr b="1"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243">
                <a:solidFill>
                  <a:schemeClr val="dk1"/>
                </a:solidFill>
              </a:rPr>
              <a:t>Linear Regression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243">
                <a:solidFill>
                  <a:schemeClr val="dk1"/>
                </a:solidFill>
              </a:rPr>
              <a:t>Decision Tree Regressor</a:t>
            </a:r>
            <a:endParaRPr sz="6243">
              <a:solidFill>
                <a:schemeClr val="dk1"/>
              </a:solidFill>
            </a:endParaRPr>
          </a:p>
          <a:p>
            <a:pPr indent="-32770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243">
                <a:solidFill>
                  <a:schemeClr val="dk1"/>
                </a:solidFill>
              </a:rPr>
              <a:t>Random Forest Regressor</a:t>
            </a:r>
            <a:endParaRPr sz="624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Model Comparison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</a:rPr>
              <a:t>1. Linear Regression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MAE: $134,529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RMSE: $214,902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R²: 0.669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</a:t>
            </a:r>
            <a:r>
              <a:rPr lang="en"/>
              <a:t>Comparison</a:t>
            </a:r>
            <a:r>
              <a:rPr lang="en"/>
              <a:t> (cont’d)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2. Decision Tree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MAE: $102,052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RMSE: $182,958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R²: 0.760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Comparision (cont’d)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3. Random Forest — Best Performing Model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MAE: $67,713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RMSE: $119,702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R²: 0.897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Model Comparision (cont’d)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</a:rPr>
              <a:t>Key Findings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Random Forest achieved the lowest prediction errors.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It had the highest R² of the three models.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Decision Tree showed signs of overfitting.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Linear Regression had the weakest overall performance.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Validation and Overfitting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920800"/>
            <a:ext cx="8520600" cy="3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Why validation matters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Checks how well a model performs on unseen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Helps identify overfitting.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GroupKFold keeps records with the same property ID together.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Random Forest validation results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Validation MAE: </a:t>
            </a:r>
            <a:r>
              <a:rPr b="1" lang="en" sz="1400">
                <a:solidFill>
                  <a:schemeClr val="dk1"/>
                </a:solidFill>
              </a:rPr>
              <a:t>$65,704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Validation RMSE: </a:t>
            </a:r>
            <a:r>
              <a:rPr b="1" lang="en" sz="1400">
                <a:solidFill>
                  <a:schemeClr val="dk1"/>
                </a:solidFill>
              </a:rPr>
              <a:t>$119,862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Validation R²: </a:t>
            </a:r>
            <a:r>
              <a:rPr b="1" lang="en" sz="1400">
                <a:solidFill>
                  <a:schemeClr val="dk1"/>
                </a:solidFill>
              </a:rPr>
              <a:t>0.890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Key finding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Training performance was stronger than validation performance.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This suggests some overfitting.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Five-fold GroupKFold results were similar for maximum depths of 20 and unrestricted depth.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Model choice:</a:t>
            </a:r>
            <a:r>
              <a:rPr lang="en" sz="1400">
                <a:solidFill>
                  <a:schemeClr val="dk1"/>
                </a:solidFill>
              </a:rPr>
              <a:t> Maximum depth of 20, providing a reasonable complexity limit with comparable cross-validation performance.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Conclusion and Limitations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949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431">
                <a:solidFill>
                  <a:schemeClr val="dk1"/>
                </a:solidFill>
              </a:rPr>
              <a:t>Conclusion</a:t>
            </a:r>
            <a:endParaRPr b="1"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Random Forest was the best-performing model among the three tested.</a:t>
            </a:r>
            <a:endParaRPr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Test MAE: </a:t>
            </a:r>
            <a:r>
              <a:rPr b="1" lang="en" sz="5431">
                <a:solidFill>
                  <a:schemeClr val="dk1"/>
                </a:solidFill>
              </a:rPr>
              <a:t>$67,713</a:t>
            </a:r>
            <a:endParaRPr b="1"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Test R²: </a:t>
            </a:r>
            <a:r>
              <a:rPr b="1" lang="en" sz="5431">
                <a:solidFill>
                  <a:schemeClr val="dk1"/>
                </a:solidFill>
              </a:rPr>
              <a:t>0.897</a:t>
            </a:r>
            <a:endParaRPr b="1"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The results show that property features can help predict house prices.</a:t>
            </a:r>
            <a:endParaRPr sz="543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431">
                <a:solidFill>
                  <a:schemeClr val="dk1"/>
                </a:solidFill>
              </a:rPr>
              <a:t>Limitations</a:t>
            </a:r>
            <a:endParaRPr b="1"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House prices can be influenced by factors not included in the dataset.</a:t>
            </a:r>
            <a:endParaRPr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Some unusual property values required investigation.</a:t>
            </a:r>
            <a:endParaRPr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The difference between training and validation performance suggests some overfitting.</a:t>
            </a:r>
            <a:endParaRPr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The test results should be treated cautiously because they were used during model experimentation.</a:t>
            </a:r>
            <a:endParaRPr sz="543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431">
                <a:solidFill>
                  <a:schemeClr val="dk1"/>
                </a:solidFill>
              </a:rPr>
              <a:t>Future Improvements</a:t>
            </a:r>
            <a:endParaRPr b="1"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Evaluate the final model on a completely untouched test set.</a:t>
            </a:r>
            <a:endParaRPr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Explore additional relevant features.</a:t>
            </a:r>
            <a:endParaRPr sz="5431">
              <a:solidFill>
                <a:schemeClr val="dk1"/>
              </a:solidFill>
            </a:endParaRPr>
          </a:p>
          <a:p>
            <a:pPr indent="-31481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431">
                <a:solidFill>
                  <a:schemeClr val="dk1"/>
                </a:solidFill>
              </a:rPr>
              <a:t>Further tune the model using cross-validation.</a:t>
            </a:r>
            <a:endParaRPr sz="543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Thank You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Questions?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House Price Prediction Using Machine Learning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King County House Sales Dataset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Key takeaway:</a:t>
            </a:r>
            <a:r>
              <a:rPr lang="en">
                <a:solidFill>
                  <a:schemeClr val="dk1"/>
                </a:solidFill>
              </a:rPr>
              <a:t> Random Forest achieved the strongest performance among the three models tested.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Thank you for listening!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