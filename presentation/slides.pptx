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Roboto Mon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ono-bold.fntdata"/><Relationship Id="rId14" Type="http://schemas.openxmlformats.org/officeDocument/2006/relationships/font" Target="fonts/RobotoMono-regular.fntdata"/><Relationship Id="rId17" Type="http://schemas.openxmlformats.org/officeDocument/2006/relationships/font" Target="fonts/RobotoMono-boldItalic.fntdata"/><Relationship Id="rId16" Type="http://schemas.openxmlformats.org/officeDocument/2006/relationships/font" Target="fonts/RobotoMon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78f48f5fb0be11bd_0_1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78f48f5fb0be11bd_0_1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78f48f5fb0be11bd_0_14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78f48f5fb0be11bd_0_14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78f48f5fb0be11bd_0_14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78f48f5fb0be11bd_0_14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h78f48f5fb0be11bd_0_14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h78f48f5fb0be11bd_0_14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78f48f5fb0be11bd_0_14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h78f48f5fb0be11bd_0_14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h78f48f5fb0be11bd_0_14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h78f48f5fb0be11bd_0_1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78f48f5fb0be11bd_0_14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h78f48f5fb0be11bd_0_14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King County House Price Prediction</a:t>
            </a:r>
            <a:endParaRPr b="1"/>
          </a:p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n" sz="2106"/>
              <a:t>Predicting House Prices</a:t>
            </a:r>
            <a:endParaRPr b="1" sz="2106"/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106"/>
              <a:t>Using Machine Learning to Estimate Property Values</a:t>
            </a:r>
            <a:endParaRPr b="1" sz="2106"/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6"/>
              <a:t>King County, Washington, USA</a:t>
            </a:r>
            <a:endParaRPr b="1" sz="2106"/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2243"/>
              <a:buFont typeface="Arial"/>
              <a:buNone/>
            </a:pPr>
            <a:r>
              <a:t/>
            </a:r>
            <a:endParaRPr sz="2106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300"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							Egbie Uku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Understanding the data</a:t>
            </a:r>
            <a:endParaRPr sz="4300"/>
          </a:p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94750" y="28522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91440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b="1" lang="en" sz="1600">
                <a:solidFill>
                  <a:schemeClr val="dk1"/>
                </a:solidFill>
              </a:rPr>
              <a:t>Dataset King County Sales</a:t>
            </a:r>
            <a:endParaRPr b="1" sz="1600">
              <a:solidFill>
                <a:schemeClr val="dk1"/>
              </a:solidFill>
            </a:endParaRPr>
          </a:p>
          <a:p>
            <a:pPr indent="-342900" lvl="0" marL="13716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21,613 records and 21 original columns.</a:t>
            </a:r>
            <a:endParaRPr sz="1800">
              <a:solidFill>
                <a:schemeClr val="dk1"/>
              </a:solidFill>
            </a:endParaRPr>
          </a:p>
          <a:p>
            <a:pPr indent="-342900" lvl="0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Target variable: </a:t>
            </a:r>
            <a:r>
              <a:rPr lang="en" sz="18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price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  <a:p>
            <a:pPr indent="-342900" lvl="0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House prices are strongly right-skewed.</a:t>
            </a:r>
            <a:endParaRPr sz="1800">
              <a:solidFill>
                <a:schemeClr val="dk1"/>
              </a:solidFill>
            </a:endParaRPr>
          </a:p>
          <a:p>
            <a:pPr indent="-342900" lvl="0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Living area and property grade are strongly associated with price.</a:t>
            </a:r>
            <a:endParaRPr sz="1800">
              <a:solidFill>
                <a:schemeClr val="dk1"/>
              </a:solidFill>
            </a:endParaRPr>
          </a:p>
          <a:p>
            <a:pPr indent="-342900" lvl="0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An unusual 33-bedroom record was identified for investigation.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523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4" name="Google Shape;74;p16" title="histograp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08841"/>
            <a:ext cx="9143999" cy="45258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Prepare the data</a:t>
            </a:r>
            <a:endParaRPr/>
          </a:p>
        </p:txBody>
      </p:sp>
      <p:sp>
        <p:nvSpPr>
          <p:cNvPr id="80" name="Google Shape;80;p17"/>
          <p:cNvSpPr txBox="1"/>
          <p:nvPr>
            <p:ph idx="1" type="subTitle"/>
          </p:nvPr>
        </p:nvSpPr>
        <p:spPr>
          <a:xfrm>
            <a:off x="311700" y="2834125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Checked for missing values and exact duplicate rows.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Treated zero bedroom and bathroom values as missing for modelling and imputed them.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Encoded ZIP codes into numerical features.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Created sale year and sale month features from the date.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Split the data into 80% training and 20% testing sets.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Kept repeated property IDs in separate groups to reduce data leakage.</a:t>
            </a:r>
            <a:endParaRPr sz="18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the models</a:t>
            </a:r>
            <a:endParaRPr/>
          </a:p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I evaluated three regression algorithms on the same test dataset.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Linear Regression:</a:t>
            </a:r>
            <a:r>
              <a:rPr lang="en" sz="1600">
                <a:solidFill>
                  <a:schemeClr val="dk1"/>
                </a:solidFill>
              </a:rPr>
              <a:t> Test MAE ≈ $134,529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Decision Tree:</a:t>
            </a:r>
            <a:r>
              <a:rPr lang="en" sz="1600">
                <a:solidFill>
                  <a:schemeClr val="dk1"/>
                </a:solidFill>
              </a:rPr>
              <a:t> Test MAE ≈ $102,052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Random Forest:</a:t>
            </a:r>
            <a:r>
              <a:rPr lang="en" sz="1600">
                <a:solidFill>
                  <a:schemeClr val="dk1"/>
                </a:solidFill>
              </a:rPr>
              <a:t> Test MAE ≈ $67,713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600">
                <a:solidFill>
                  <a:schemeClr val="dk1"/>
                </a:solidFill>
              </a:rPr>
              <a:t>Finding:</a:t>
            </a:r>
            <a:r>
              <a:rPr lang="en" sz="1600">
                <a:solidFill>
                  <a:schemeClr val="dk1"/>
                </a:solidFill>
              </a:rPr>
              <a:t> Random Forest had the lowest average absolute prediction error and performed best among the three models tested.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300"/>
              <a:t>Recommendation and Limitations</a:t>
            </a:r>
            <a:endParaRPr b="1" sz="2300"/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0"/>
          <p:cNvSpPr txBox="1"/>
          <p:nvPr>
            <p:ph idx="1" type="subTitle"/>
          </p:nvPr>
        </p:nvSpPr>
        <p:spPr>
          <a:xfrm>
            <a:off x="259625" y="18759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</a:rPr>
              <a:t>Recommendation:</a:t>
            </a:r>
            <a:r>
              <a:rPr lang="en" sz="1400">
                <a:solidFill>
                  <a:schemeClr val="dk1"/>
                </a:solidFill>
              </a:rPr>
              <a:t> Select Random Forest from the three models evaluated.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Lowest test MAE: approximately $67,713.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Test R²: approximately 0.897.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Important features included living area, property grade and location.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</a:rPr>
              <a:t>Limitations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Predictions are estimates, not guaranteed sale prices.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Errors can be larger for expensive properties.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Further independent validation is needed before using the model in a real business setting.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</a:rPr>
              <a:t>Conclusion:</a:t>
            </a:r>
            <a:r>
              <a:rPr lang="en" sz="1400">
                <a:solidFill>
                  <a:schemeClr val="dk1"/>
                </a:solidFill>
              </a:rPr>
              <a:t> Random Forest provided the strongest predictive performance among the models tested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